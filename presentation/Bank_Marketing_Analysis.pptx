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32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FFFFFF"/>
                </a:solidFill>
              </a:defRPr>
            </a:pPr>
            <a:r>
              <a:t>Bank Marketing Campaign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769A0"/>
                </a:solidFill>
              </a:defRPr>
            </a:pPr>
            <a:r>
              <a:t>Project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100">
                <a:solidFill>
                  <a:srgbClr val="2D2D2D"/>
                </a:solidFill>
              </a:defRPr>
            </a:pPr>
            <a:r>
              <a:t>Exploratory Data Analysis (EDA)</a:t>
            </a:r>
          </a:p>
          <a:p>
            <a:pPr>
              <a:spcAft>
                <a:spcPts val="1800"/>
              </a:spcAft>
              <a:defRPr sz="2100">
                <a:solidFill>
                  <a:srgbClr val="2D2D2D"/>
                </a:solidFill>
              </a:defRPr>
            </a:pPr>
            <a:r>
              <a:t>Understanding customer term deposit subscriptions</a:t>
            </a:r>
          </a:p>
          <a:p>
            <a:pPr>
              <a:spcAft>
                <a:spcPts val="1800"/>
              </a:spcAft>
              <a:defRPr sz="2100">
                <a:solidFill>
                  <a:srgbClr val="2D2D2D"/>
                </a:solidFill>
              </a:defRPr>
            </a:pPr>
            <a:r>
              <a:t>Tools: Python, Pandas, Matplotlib, Seaborn and Jupyter Notebook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3769A0"/>
                </a:solidFill>
              </a:defRPr>
            </a:pPr>
            <a:r>
              <a:t>Bank Marketing Campaign Analysis  |  Exploratory Data Analysis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32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FFFFFF"/>
                </a:solidFill>
              </a:defRPr>
            </a:pPr>
            <a:r>
              <a:t>Project Objective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100">
                <a:solidFill>
                  <a:srgbClr val="2D2D2D"/>
                </a:solidFill>
              </a:defRPr>
            </a:pPr>
            <a:r>
              <a:t>Explore customer demographics and marketing campaign information.</a:t>
            </a:r>
          </a:p>
          <a:p>
            <a:pPr>
              <a:spcAft>
                <a:spcPts val="1800"/>
              </a:spcAft>
              <a:defRPr sz="2100">
                <a:solidFill>
                  <a:srgbClr val="2D2D2D"/>
                </a:solidFill>
              </a:defRPr>
            </a:pPr>
            <a:r>
              <a:t>Measure subscription rates across customer groups.</a:t>
            </a:r>
          </a:p>
          <a:p>
            <a:pPr>
              <a:spcAft>
                <a:spcPts val="1800"/>
              </a:spcAft>
              <a:defRPr sz="2100">
                <a:solidFill>
                  <a:srgbClr val="2D2D2D"/>
                </a:solidFill>
              </a:defRPr>
            </a:pPr>
            <a:r>
              <a:t>Compare contact methods, previous campaign outcomes and campaign timing.</a:t>
            </a:r>
          </a:p>
          <a:p>
            <a:pPr>
              <a:spcAft>
                <a:spcPts val="1800"/>
              </a:spcAft>
              <a:defRPr sz="2100">
                <a:solidFill>
                  <a:srgbClr val="2D2D2D"/>
                </a:solidFill>
              </a:defRPr>
            </a:pPr>
            <a:r>
              <a:t>Identify patterns that may support better campaign planning.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3769A0"/>
                </a:solidFill>
              </a:defRPr>
            </a:pPr>
            <a:r>
              <a:t>Bank Marketing Campaign Analysis  |  Exploratory Data Analysis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32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FFFFFF"/>
                </a:solidFill>
              </a:defRPr>
            </a:pPr>
            <a:r>
              <a:t>Dataset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100">
                <a:solidFill>
                  <a:srgbClr val="2D2D2D"/>
                </a:solidFill>
              </a:defRPr>
            </a:pPr>
            <a:r>
              <a:t>Records: 41,188</a:t>
            </a:r>
          </a:p>
          <a:p>
            <a:pPr>
              <a:spcAft>
                <a:spcPts val="1800"/>
              </a:spcAft>
              <a:defRPr sz="2100">
                <a:solidFill>
                  <a:srgbClr val="2D2D2D"/>
                </a:solidFill>
              </a:defRPr>
            </a:pPr>
            <a:r>
              <a:t>Variables: 22</a:t>
            </a:r>
          </a:p>
          <a:p>
            <a:pPr>
              <a:spcAft>
                <a:spcPts val="1800"/>
              </a:spcAft>
              <a:defRPr sz="2100">
                <a:solidFill>
                  <a:srgbClr val="2D2D2D"/>
                </a:solidFill>
              </a:defRPr>
            </a:pPr>
            <a:r>
              <a:t>Subscriptions: 4,640</a:t>
            </a:r>
          </a:p>
          <a:p>
            <a:pPr>
              <a:spcAft>
                <a:spcPts val="1800"/>
              </a:spcAft>
              <a:defRPr sz="2100">
                <a:solidFill>
                  <a:srgbClr val="2D2D2D"/>
                </a:solidFill>
              </a:defRPr>
            </a:pPr>
            <a:r>
              <a:t>Non-subscriptions: 36,548</a:t>
            </a:r>
          </a:p>
          <a:p>
            <a:pPr>
              <a:spcAft>
                <a:spcPts val="1800"/>
              </a:spcAft>
              <a:defRPr sz="2100">
                <a:solidFill>
                  <a:srgbClr val="2D2D2D"/>
                </a:solidFill>
              </a:defRPr>
            </a:pPr>
            <a:r>
              <a:t>Overall subscription rate: 11.27%</a:t>
            </a:r>
          </a:p>
          <a:p>
            <a:pPr>
              <a:spcAft>
                <a:spcPts val="1800"/>
              </a:spcAft>
              <a:defRPr sz="2100">
                <a:solidFill>
                  <a:srgbClr val="2D2D2D"/>
                </a:solidFill>
              </a:defRPr>
            </a:pPr>
            <a:r>
              <a:t>Source: UCI Machine Learning Repository — Bank Marketing 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3769A0"/>
                </a:solidFill>
              </a:defRPr>
            </a:pPr>
            <a:r>
              <a:t>Bank Marketing Campaign Analysis  |  Exploratory Data Analysis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32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FFFFFF"/>
                </a:solidFill>
              </a:defRPr>
            </a:pPr>
            <a:r>
              <a:t>Exploratory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100">
                <a:solidFill>
                  <a:srgbClr val="2D2D2D"/>
                </a:solidFill>
              </a:defRPr>
            </a:pPr>
            <a:r>
              <a:t>Reviewed dataset structure, data types and descriptive statistics.</a:t>
            </a:r>
          </a:p>
          <a:p>
            <a:pPr>
              <a:spcAft>
                <a:spcPts val="1800"/>
              </a:spcAft>
              <a:defRPr sz="2100">
                <a:solidFill>
                  <a:srgbClr val="2D2D2D"/>
                </a:solidFill>
              </a:defRPr>
            </a:pPr>
            <a:r>
              <a:t>Checked actual missing values, unknown categories and duplicate rows.</a:t>
            </a:r>
          </a:p>
          <a:p>
            <a:pPr>
              <a:spcAft>
                <a:spcPts val="1800"/>
              </a:spcAft>
              <a:defRPr sz="2100">
                <a:solidFill>
                  <a:srgbClr val="2D2D2D"/>
                </a:solidFill>
              </a:defRPr>
            </a:pPr>
            <a:r>
              <a:t>Compared subscription rates by job category and age group.</a:t>
            </a:r>
          </a:p>
          <a:p>
            <a:pPr>
              <a:spcAft>
                <a:spcPts val="1800"/>
              </a:spcAft>
              <a:defRPr sz="2100">
                <a:solidFill>
                  <a:srgbClr val="2D2D2D"/>
                </a:solidFill>
              </a:defRPr>
            </a:pPr>
            <a:r>
              <a:t>Examined contact method, previous campaign outcome and campaign month.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3769A0"/>
                </a:solidFill>
              </a:defRPr>
            </a:pPr>
            <a:r>
              <a:t>Bank Marketing Campaign Analysis  |  Exploratory Data Analysis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32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FFFFFF"/>
                </a:solidFill>
              </a:defRPr>
            </a:pPr>
            <a:r>
              <a:t>Campaign Response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100">
                <a:solidFill>
                  <a:srgbClr val="2D2D2D"/>
                </a:solidFill>
              </a:defRPr>
            </a:pPr>
            <a:r>
              <a:t>Subscription rates can differ across customer groups.</a:t>
            </a:r>
          </a:p>
          <a:p>
            <a:pPr>
              <a:spcAft>
                <a:spcPts val="1800"/>
              </a:spcAft>
              <a:defRPr sz="2100">
                <a:solidFill>
                  <a:srgbClr val="2D2D2D"/>
                </a:solidFill>
              </a:defRPr>
            </a:pPr>
            <a:r>
              <a:t>Previous campaign outcomes may be associated with current responses.</a:t>
            </a:r>
          </a:p>
          <a:p>
            <a:pPr>
              <a:spcAft>
                <a:spcPts val="1800"/>
              </a:spcAft>
              <a:defRPr sz="2100">
                <a:solidFill>
                  <a:srgbClr val="2D2D2D"/>
                </a:solidFill>
              </a:defRPr>
            </a:pPr>
            <a:r>
              <a:t>Contact frequency should be assessed using both customer counts and rates.</a:t>
            </a:r>
          </a:p>
          <a:p>
            <a:pPr>
              <a:spcAft>
                <a:spcPts val="1800"/>
              </a:spcAft>
              <a:defRPr sz="2100">
                <a:solidFill>
                  <a:srgbClr val="2D2D2D"/>
                </a:solidFill>
              </a:defRPr>
            </a:pPr>
            <a:r>
              <a:t>Monthly response rates can vary with campaign volume and timing.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3769A0"/>
                </a:solidFill>
              </a:defRPr>
            </a:pPr>
            <a:r>
              <a:t>Bank Marketing Campaign Analysis  |  Exploratory Data Analysis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32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FFFFFF"/>
                </a:solidFill>
              </a:defRPr>
            </a:pPr>
            <a:r>
              <a:t>Limitations and Considerations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100">
                <a:solidFill>
                  <a:srgbClr val="2D2D2D"/>
                </a:solidFill>
              </a:defRPr>
            </a:pPr>
            <a:r>
              <a:t>The analysis describes associations; it does not prove causation.</a:t>
            </a:r>
          </a:p>
          <a:p>
            <a:pPr>
              <a:spcAft>
                <a:spcPts val="1800"/>
              </a:spcAft>
              <a:defRPr sz="2100">
                <a:solidFill>
                  <a:srgbClr val="2D2D2D"/>
                </a:solidFill>
              </a:defRPr>
            </a:pPr>
            <a:r>
              <a:t>Unknown categories may affect interpretation of customer characteristics.</a:t>
            </a:r>
          </a:p>
          <a:p>
            <a:pPr>
              <a:spcAft>
                <a:spcPts val="1800"/>
              </a:spcAft>
              <a:defRPr sz="2100">
                <a:solidFill>
                  <a:srgbClr val="2D2D2D"/>
                </a:solidFill>
              </a:defRPr>
            </a:pPr>
            <a:r>
              <a:t>Campaign results may depend on the historical period and economic context.</a:t>
            </a:r>
          </a:p>
          <a:p>
            <a:pPr>
              <a:spcAft>
                <a:spcPts val="1800"/>
              </a:spcAft>
              <a:defRPr sz="2100">
                <a:solidFill>
                  <a:srgbClr val="2D2D2D"/>
                </a:solidFill>
              </a:defRPr>
            </a:pPr>
            <a:r>
              <a:t>Call duration is known after the call and should not be used for pre-call targeting.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3769A0"/>
                </a:solidFill>
              </a:defRPr>
            </a:pPr>
            <a:r>
              <a:t>Bank Marketing Campaign Analysis  |  Exploratory Data Analysis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32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FFFFFF"/>
                </a:solidFill>
              </a:defRPr>
            </a:pPr>
            <a:r>
              <a:t>Conclusion and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100">
                <a:solidFill>
                  <a:srgbClr val="2D2D2D"/>
                </a:solidFill>
              </a:defRPr>
            </a:pPr>
            <a:r>
              <a:t>Use subscription rates alongside customer counts to compare segments.</a:t>
            </a:r>
          </a:p>
          <a:p>
            <a:pPr>
              <a:spcAft>
                <a:spcPts val="1800"/>
              </a:spcAft>
              <a:defRPr sz="2100">
                <a:solidFill>
                  <a:srgbClr val="2D2D2D"/>
                </a:solidFill>
              </a:defRPr>
            </a:pPr>
            <a:r>
              <a:t>Review campaign outcomes and contact frequency before changing strategy.</a:t>
            </a:r>
          </a:p>
          <a:p>
            <a:pPr>
              <a:spcAft>
                <a:spcPts val="1800"/>
              </a:spcAft>
              <a:defRPr sz="2100">
                <a:solidFill>
                  <a:srgbClr val="2D2D2D"/>
                </a:solidFill>
              </a:defRPr>
            </a:pPr>
            <a:r>
              <a:t>Validate findings on newer data before applying them to current campaigns.</a:t>
            </a:r>
          </a:p>
          <a:p>
            <a:pPr>
              <a:spcAft>
                <a:spcPts val="1800"/>
              </a:spcAft>
              <a:defRPr sz="2100">
                <a:solidFill>
                  <a:srgbClr val="2D2D2D"/>
                </a:solidFill>
              </a:defRPr>
            </a:pPr>
            <a:r>
              <a:t>Further analysis could evaluate customer targeting and campaign effectiveness.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3769A0"/>
                </a:solidFill>
              </a:defRPr>
            </a:pPr>
            <a:r>
              <a:t>Bank Marketing Campaign Analysis  |  Exploratory Data Analysis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