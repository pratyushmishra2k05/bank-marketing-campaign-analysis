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7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Bank Marketing</a:t>
            </a:r>
            <a:br/>
            <a:r>
              <a:t>Campaign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749039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FFFFFF"/>
                </a:solidFill>
              </a:defRPr>
            </a:pPr>
            <a:r>
              <a:t>Exploratory Data Analysis | Python • Pandas •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0"/>
                </a:solidFill>
              </a:defRPr>
            </a:pPr>
            <a:r>
              <a:t>Project Objective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2D2D2D"/>
                </a:solidFill>
              </a:defRPr>
            </a:pPr>
            <a:r>
              <a:t>Objective: explore factors associated with term deposit subscriptions.</a:t>
            </a:r>
          </a:p>
          <a:p>
            <a:pPr>
              <a:spcAft>
                <a:spcPts val="1700"/>
              </a:spcAft>
              <a:defRPr sz="2000">
                <a:solidFill>
                  <a:srgbClr val="2D2D2D"/>
                </a:solidFill>
              </a:defRPr>
            </a:pPr>
            <a:r>
              <a:t>Dataset: 41,188 customer records and 21 columns.</a:t>
            </a:r>
          </a:p>
          <a:p>
            <a:pPr>
              <a:spcAft>
                <a:spcPts val="1700"/>
              </a:spcAft>
              <a:defRPr sz="2000">
                <a:solidFill>
                  <a:srgbClr val="2D2D2D"/>
                </a:solidFill>
              </a:defRPr>
            </a:pPr>
            <a:r>
              <a:t>Subscribed: 4,640 customers (11.27%).</a:t>
            </a:r>
          </a:p>
          <a:p>
            <a:pPr>
              <a:spcAft>
                <a:spcPts val="1700"/>
              </a:spcAft>
              <a:defRPr sz="2000">
                <a:solidFill>
                  <a:srgbClr val="2D2D2D"/>
                </a:solidFill>
              </a:defRPr>
            </a:pPr>
            <a:r>
              <a:t>Not subscribed: 36,548 customers (88.73%).</a:t>
            </a:r>
          </a:p>
          <a:p>
            <a:pPr>
              <a:spcAft>
                <a:spcPts val="1700"/>
              </a:spcAft>
              <a:defRPr sz="2000">
                <a:solidFill>
                  <a:srgbClr val="2D2D2D"/>
                </a:solidFill>
              </a:defRPr>
            </a:pPr>
            <a:r>
              <a:t>Methods: data quality checks, group comparisons and visualizations.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0"/>
                </a:solidFill>
              </a:defRPr>
            </a:pPr>
            <a:r>
              <a:t>Subscription Distribution</a:t>
            </a:r>
          </a:p>
        </p:txBody>
      </p:sp>
      <p:pic>
        <p:nvPicPr>
          <p:cNvPr id="3" name="Picture 2" descr="subscrip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6858000" cy="42203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55448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1689D"/>
                </a:solidFill>
              </a:defRPr>
            </a:pPr>
            <a:r>
              <a:t>Key takeaway</a:t>
            </a:r>
          </a:p>
          <a:p>
            <a:pPr>
              <a:spcBef>
                <a:spcPts val="1400"/>
              </a:spcBef>
              <a:defRPr sz="1800">
                <a:solidFill>
                  <a:srgbClr val="2D2D2D"/>
                </a:solidFill>
              </a:defRPr>
            </a:pPr>
            <a:r>
              <a:t>Only 11.27% of records resulted in a subscription. The target is imbalanced, so comparing percentages is more informative than relying only on raw 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0"/>
                </a:solidFill>
              </a:defRPr>
            </a:pPr>
            <a:r>
              <a:t>Subscription Rate by Contact Method</a:t>
            </a:r>
          </a:p>
        </p:txBody>
      </p:sp>
      <p:pic>
        <p:nvPicPr>
          <p:cNvPr id="3" name="Picture 2" descr="subscription_by_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6858000" cy="42283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55448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1689D"/>
                </a:solidFill>
              </a:defRPr>
            </a:pPr>
            <a:r>
              <a:t>Key takeaway</a:t>
            </a:r>
          </a:p>
          <a:p>
            <a:pPr>
              <a:spcBef>
                <a:spcPts val="1400"/>
              </a:spcBef>
              <a:defRPr sz="1800">
                <a:solidFill>
                  <a:srgbClr val="2D2D2D"/>
                </a:solidFill>
              </a:defRPr>
            </a:pPr>
            <a:r>
              <a:t>Observed rates differ by contact method. cellular: 14.74%; telephone: 5.23%. This is an association, not proof that contact method alone caused the difference.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0"/>
                </a:solidFill>
              </a:defRPr>
            </a:pPr>
            <a:r>
              <a:t>Previous Campaign Outcome</a:t>
            </a:r>
          </a:p>
        </p:txBody>
      </p:sp>
      <p:pic>
        <p:nvPicPr>
          <p:cNvPr id="3" name="Picture 2" descr="subscription_by_previous_out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6858000" cy="42283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55448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1689D"/>
                </a:solidFill>
              </a:defRPr>
            </a:pPr>
            <a:r>
              <a:t>Key takeaway</a:t>
            </a:r>
          </a:p>
          <a:p>
            <a:pPr>
              <a:spcBef>
                <a:spcPts val="1400"/>
              </a:spcBef>
              <a:defRPr sz="1800">
                <a:solidFill>
                  <a:srgbClr val="2D2D2D"/>
                </a:solidFill>
              </a:defRPr>
            </a:pPr>
            <a:r>
              <a:t>Subscription rates vary with the recorded previous campaign outcome. success: 65.11%; failure: 14.23%; nonexistent: 8.83%. Group sizes and other customer characteristics also matter.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0"/>
                </a:solidFill>
              </a:defRPr>
            </a:pPr>
            <a:r>
              <a:t>Additional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2D2D2D"/>
                </a:solidFill>
              </a:defRPr>
            </a:pPr>
            <a:r>
              <a:t>Job categories with the highest observed subscription rates:</a:t>
            </a:r>
          </a:p>
          <a:p>
            <a:pPr>
              <a:spcAft>
                <a:spcPts val="1700"/>
              </a:spcAft>
              <a:defRPr sz="1900">
                <a:solidFill>
                  <a:srgbClr val="2D2D2D"/>
                </a:solidFill>
              </a:defRPr>
            </a:pPr>
            <a:r>
              <a:t>student: 31.43%; retired: 25.23%; unemployed: 14.20%</a:t>
            </a:r>
          </a:p>
          <a:p>
            <a:pPr>
              <a:spcAft>
                <a:spcPts val="1700"/>
              </a:spcAft>
              <a:defRPr sz="1900">
                <a:solidFill>
                  <a:srgbClr val="2D2D2D"/>
                </a:solidFill>
              </a:defRPr>
            </a:pPr>
            <a:r>
              <a:t>Months with the highest observed subscription rates:</a:t>
            </a:r>
          </a:p>
          <a:p>
            <a:pPr>
              <a:spcAft>
                <a:spcPts val="1700"/>
              </a:spcAft>
              <a:defRPr sz="1900">
                <a:solidFill>
                  <a:srgbClr val="2D2D2D"/>
                </a:solidFill>
              </a:defRPr>
            </a:pPr>
            <a:r>
              <a:t>mar: 50.55%; dec: 48.90%; sep: 44.91%</a:t>
            </a:r>
          </a:p>
          <a:p>
            <a:pPr>
              <a:spcAft>
                <a:spcPts val="1700"/>
              </a:spcAft>
              <a:defRPr sz="1900">
                <a:solidFill>
                  <a:srgbClr val="2D2D2D"/>
                </a:solidFill>
              </a:defRPr>
            </a:pPr>
            <a:r>
              <a:t>These are descriptive comparisons; they do not establish causation.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50"/>
                </a:solidFill>
              </a:defRPr>
            </a:pPr>
            <a:r>
              <a:t>Conclusion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800">
                <a:solidFill>
                  <a:srgbClr val="2D2D2D"/>
                </a:solidFill>
              </a:defRPr>
            </a:pPr>
            <a:r>
              <a:t>Overall subscription rate: 11.27%.</a:t>
            </a:r>
          </a:p>
          <a:p>
            <a:pPr>
              <a:spcAft>
                <a:spcPts val="1700"/>
              </a:spcAft>
              <a:defRPr sz="1800">
                <a:solidFill>
                  <a:srgbClr val="2D2D2D"/>
                </a:solidFill>
              </a:defRPr>
            </a:pPr>
            <a:r>
              <a:t>Customer and campaign characteristics show differing subscription rates.</a:t>
            </a:r>
          </a:p>
          <a:p>
            <a:pPr>
              <a:spcAft>
                <a:spcPts val="1700"/>
              </a:spcAft>
              <a:defRPr sz="1800">
                <a:solidFill>
                  <a:srgbClr val="2D2D2D"/>
                </a:solidFill>
              </a:defRPr>
            </a:pPr>
            <a:r>
              <a:t>The dataset contains 'unknown' category values; these are not automatically missing values.</a:t>
            </a:r>
          </a:p>
          <a:p>
            <a:pPr>
              <a:spcAft>
                <a:spcPts val="1700"/>
              </a:spcAft>
              <a:defRPr sz="1800">
                <a:solidFill>
                  <a:srgbClr val="2D2D2D"/>
                </a:solidFill>
              </a:defRPr>
            </a:pPr>
            <a:r>
              <a:t>Call duration is known after the call, so it should not be used for pre-call targeting.</a:t>
            </a:r>
          </a:p>
          <a:p>
            <a:pPr>
              <a:spcAft>
                <a:spcPts val="1700"/>
              </a:spcAft>
              <a:defRPr sz="1800">
                <a:solidFill>
                  <a:srgbClr val="2D2D2D"/>
                </a:solidFill>
              </a:defRPr>
            </a:pPr>
            <a:r>
              <a:t>Next step: validate potential campaign improvements with new data or controlled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